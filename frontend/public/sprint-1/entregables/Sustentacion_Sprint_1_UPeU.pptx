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516e14698f4d59" /><Relationship Type="http://schemas.openxmlformats.org/officeDocument/2006/relationships/extended-properties" Target="/docProps/app.xml" Id="R6b2656c544f248a2" /><Relationship Type="http://schemas.openxmlformats.org/officeDocument/2006/relationships/officeDocument" Target="/ppt/presentation.xml" Id="R7dac906fad6146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e4914f76ed4d87"/>
  </p:sldMasterIdLst>
  <p:notesMasterIdLst>
    <p:notesMasterId xmlns:r="http://schemas.openxmlformats.org/officeDocument/2006/relationships" r:id="Rc64a377f7c364eef"/>
  </p:notesMasterIdLst>
  <p:sldIdLst>
    <p:sldId xmlns:r="http://schemas.openxmlformats.org/officeDocument/2006/relationships" id="256" r:id="R4a3617e229ea41ad"/>
    <p:sldId xmlns:r="http://schemas.openxmlformats.org/officeDocument/2006/relationships" id="257" r:id="R8ce6a8d1edff4187"/>
    <p:sldId xmlns:r="http://schemas.openxmlformats.org/officeDocument/2006/relationships" id="258" r:id="Radc0c2208e4945f6"/>
    <p:sldId xmlns:r="http://schemas.openxmlformats.org/officeDocument/2006/relationships" id="259" r:id="R143fbdc5d1d74caf"/>
    <p:sldId xmlns:r="http://schemas.openxmlformats.org/officeDocument/2006/relationships" id="260" r:id="R3aa88727ff1c41ad"/>
    <p:sldId xmlns:r="http://schemas.openxmlformats.org/officeDocument/2006/relationships" id="261" r:id="R089b7978275e4409"/>
    <p:sldId xmlns:r="http://schemas.openxmlformats.org/officeDocument/2006/relationships" id="262" r:id="R52c3b5e3df234eda"/>
    <p:sldId xmlns:r="http://schemas.openxmlformats.org/officeDocument/2006/relationships" id="263" r:id="R02e5f84cab48423b"/>
    <p:sldId xmlns:r="http://schemas.openxmlformats.org/officeDocument/2006/relationships" id="264" r:id="Rf07f5f6ee24e4f3e"/>
    <p:sldId xmlns:r="http://schemas.openxmlformats.org/officeDocument/2006/relationships" id="265" r:id="R81dce389850b44cd"/>
    <p:sldId xmlns:r="http://schemas.openxmlformats.org/officeDocument/2006/relationships" id="266" r:id="Rcc1c628b8a4747e6"/>
    <p:sldId xmlns:r="http://schemas.openxmlformats.org/officeDocument/2006/relationships" id="267" r:id="Re8a63d394dbb45b1"/>
    <p:sldId xmlns:r="http://schemas.openxmlformats.org/officeDocument/2006/relationships" id="268" r:id="R3b8ab8d931d44ef6"/>
    <p:sldId xmlns:r="http://schemas.openxmlformats.org/officeDocument/2006/relationships" id="269" r:id="R81821ce7c15447e1"/>
    <p:sldId xmlns:r="http://schemas.openxmlformats.org/officeDocument/2006/relationships" id="270" r:id="Ra890352cead540b6"/>
    <p:sldId xmlns:r="http://schemas.openxmlformats.org/officeDocument/2006/relationships" id="271" r:id="Rc3d66ac172f042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a34c160b7b4008" /><Relationship Type="http://schemas.openxmlformats.org/officeDocument/2006/relationships/slideMaster" Target="/ppt/slideMasters/slideMaster1.xml" Id="R8ae4914f76ed4d87" /><Relationship Type="http://schemas.openxmlformats.org/officeDocument/2006/relationships/notesMaster" Target="/ppt/notesMasters/notesMaster1.xml" Id="Rc64a377f7c364eef" /><Relationship Type="http://schemas.openxmlformats.org/officeDocument/2006/relationships/presProps" Target="/ppt/presProps.xml" Id="R7617ac75322f4e96" /><Relationship Type="http://schemas.openxmlformats.org/officeDocument/2006/relationships/tableStyles" Target="/ppt/tableStyles.xml" Id="R85b4b407450048aa" /><Relationship Type="http://schemas.openxmlformats.org/officeDocument/2006/relationships/slide" Target="/ppt/slides/slide1.xml" Id="R4a3617e229ea41ad" /><Relationship Type="http://schemas.openxmlformats.org/officeDocument/2006/relationships/slide" Target="/ppt/slides/slide2.xml" Id="R8ce6a8d1edff4187" /><Relationship Type="http://schemas.openxmlformats.org/officeDocument/2006/relationships/slide" Target="/ppt/slides/slide3.xml" Id="Radc0c2208e4945f6" /><Relationship Type="http://schemas.openxmlformats.org/officeDocument/2006/relationships/slide" Target="/ppt/slides/slide4.xml" Id="R143fbdc5d1d74caf" /><Relationship Type="http://schemas.openxmlformats.org/officeDocument/2006/relationships/slide" Target="/ppt/slides/slide5.xml" Id="R3aa88727ff1c41ad" /><Relationship Type="http://schemas.openxmlformats.org/officeDocument/2006/relationships/slide" Target="/ppt/slides/slide6.xml" Id="R089b7978275e4409" /><Relationship Type="http://schemas.openxmlformats.org/officeDocument/2006/relationships/slide" Target="/ppt/slides/slide7.xml" Id="R52c3b5e3df234eda" /><Relationship Type="http://schemas.openxmlformats.org/officeDocument/2006/relationships/slide" Target="/ppt/slides/slide8.xml" Id="R02e5f84cab48423b" /><Relationship Type="http://schemas.openxmlformats.org/officeDocument/2006/relationships/slide" Target="/ppt/slides/slide9.xml" Id="Rf07f5f6ee24e4f3e" /><Relationship Type="http://schemas.openxmlformats.org/officeDocument/2006/relationships/slide" Target="/ppt/slides/slide10.xml" Id="R81dce389850b44cd" /><Relationship Type="http://schemas.openxmlformats.org/officeDocument/2006/relationships/slide" Target="/ppt/slides/slide11.xml" Id="Rcc1c628b8a4747e6" /><Relationship Type="http://schemas.openxmlformats.org/officeDocument/2006/relationships/slide" Target="/ppt/slides/slide12.xml" Id="Re8a63d394dbb45b1" /><Relationship Type="http://schemas.openxmlformats.org/officeDocument/2006/relationships/slide" Target="/ppt/slides/slide13.xml" Id="R3b8ab8d931d44ef6" /><Relationship Type="http://schemas.openxmlformats.org/officeDocument/2006/relationships/slide" Target="/ppt/slides/slide14.xml" Id="R81821ce7c15447e1" /><Relationship Type="http://schemas.openxmlformats.org/officeDocument/2006/relationships/slide" Target="/ppt/slides/slide15.xml" Id="Ra890352cead540b6" /><Relationship Type="http://schemas.openxmlformats.org/officeDocument/2006/relationships/slide" Target="/ppt/slides/slide16.xml" Id="Rc3d66ac172f042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6b0bbd12b848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a9d7a9741546fe" /><Relationship Type="http://schemas.openxmlformats.org/officeDocument/2006/relationships/notesMaster" Target="/ppt/notesMasters/notesMaster1.xml" Id="R93946de22ce346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d7bbb04299449f" /><Relationship Type="http://schemas.openxmlformats.org/officeDocument/2006/relationships/notesMaster" Target="/ppt/notesMasters/notesMaster1.xml" Id="R12cbcf69bdf243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6e3a4d39a4412a" /><Relationship Type="http://schemas.openxmlformats.org/officeDocument/2006/relationships/notesMaster" Target="/ppt/notesMasters/notesMaster1.xml" Id="Rb308e23e6e9f46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f73f111e0b41fd" /><Relationship Type="http://schemas.openxmlformats.org/officeDocument/2006/relationships/notesMaster" Target="/ppt/notesMasters/notesMaster1.xml" Id="R3dedbfc91ff443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c74d86b7864c6f" /><Relationship Type="http://schemas.openxmlformats.org/officeDocument/2006/relationships/notesMaster" Target="/ppt/notesMasters/notesMaster1.xml" Id="R58cd57cb8e2043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e59edde30e420e" /><Relationship Type="http://schemas.openxmlformats.org/officeDocument/2006/relationships/notesMaster" Target="/ppt/notesMasters/notesMaster1.xml" Id="R5834ecad9a9341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56fc421b304cba" /><Relationship Type="http://schemas.openxmlformats.org/officeDocument/2006/relationships/notesMaster" Target="/ppt/notesMasters/notesMaster1.xml" Id="R93bda9aa40b440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f20881966a48af" /><Relationship Type="http://schemas.openxmlformats.org/officeDocument/2006/relationships/notesMaster" Target="/ppt/notesMasters/notesMaster1.xml" Id="R009819f8f66a4e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1e2cf0e88b4473" /><Relationship Type="http://schemas.openxmlformats.org/officeDocument/2006/relationships/notesMaster" Target="/ppt/notesMasters/notesMaster1.xml" Id="Rb9dff9a0a50043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2b800c01554365" /><Relationship Type="http://schemas.openxmlformats.org/officeDocument/2006/relationships/notesMaster" Target="/ppt/notesMasters/notesMaster1.xml" Id="R86e64baadb9f434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9100d4c2ed431a" /><Relationship Type="http://schemas.openxmlformats.org/officeDocument/2006/relationships/notesMaster" Target="/ppt/notesMasters/notesMaster1.xml" Id="R12be376670094c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1021de90b074d73" /><Relationship Type="http://schemas.openxmlformats.org/officeDocument/2006/relationships/notesMaster" Target="/ppt/notesMasters/notesMaster1.xml" Id="Rd82f5d3b8c3a45b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39a8fd35c434870" /><Relationship Type="http://schemas.openxmlformats.org/officeDocument/2006/relationships/notesMaster" Target="/ppt/notesMasters/notesMaster1.xml" Id="R34f7b17a3bd34ae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b82ee71bd89405a" /><Relationship Type="http://schemas.openxmlformats.org/officeDocument/2006/relationships/notesMaster" Target="/ppt/notesMasters/notesMaster1.xml" Id="R0bfe0aac05c145f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538240ddf424e1e" /><Relationship Type="http://schemas.openxmlformats.org/officeDocument/2006/relationships/notesMaster" Target="/ppt/notesMasters/notesMaster1.xml" Id="R43b14939fef14ff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031639973424db0" /><Relationship Type="http://schemas.openxmlformats.org/officeDocument/2006/relationships/notesMaster" Target="/ppt/notesMasters/notesMaster1.xml" Id="R98dbec81cecb46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alcance de la revisión y aclarar que los puntos y agendas son propuestas. Docente Omar Leonel Loaiza Jara. Integrantes según Charter: Hoyos, Ancajima, Perez, Vasquez y Paredes.</a:t>
            </a:r>
          </a:p>
          <a:p xmlns:a="http://schemas.openxmlformats.org/drawingml/2006/main">
            <a:r>
              <a:t>Fuente general: Charter aportado y repositorio commit 235502c738ca3e0256710a901fc7e4b5a02326cb, consulta 22/10/2026.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la diferencia entre un plan, código existente y evidencia de aceptación. Fuente: Charter 13.1, 13.2, 14 y docs/SPRINT-1.md.</a:t>
            </a:r>
          </a:p>
          <a:p xmlns:a="http://schemas.openxmlformats.org/drawingml/2006/main">
            <a:r>
              <a:t>Fuente general: Charter aportado y repositorio commit 235502c738ca3e0256710a901fc7e4b5a02326cb, consulta 22/10/2026.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atribuir el trabajo inspeccionado a las fechas originales sin pruebas. El objetivo se conserva alineado con identidad, seguridad y pacientes.</a:t>
            </a:r>
          </a:p>
          <a:p xmlns:a="http://schemas.openxmlformats.org/drawingml/2006/main">
            <a:r>
              <a:t>Fuente general: Charter aportado y repositorio commit 235502c738ca3e0256710a901fc7e4b5a02326cb, consulta 22/10/2026.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1, 2, 3, 5, 8, 13 y 21 como tamaño relativo. Developers estiman y acuerdan. OTP aumenta por expiración, intentos, no enumeración, auditoría y sesiones. No se realizó Planning Poker. Puntos no equivalen a horas.</a:t>
            </a:r>
          </a:p>
          <a:p xmlns:a="http://schemas.openxmlformats.org/drawingml/2006/main">
            <a:r>
              <a:t>Fuente general: Charter aportado y repositorio commit 235502c738ca3e0256710a901fc7e4b5a02326cb, consulta 22/10/2026.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CA-01.1 Dado un ADMIN autenticado, cuando crea un usuario válido y asigna un rol autorizado, entonces se registra la cuenta y sus permisos corresponden a la matriz acordada.</a:t>
            </a:r>
          </a:p>
          <a:p xmlns:a="http://schemas.openxmlformats.org/drawingml/2006/main">
            <a:r>
              <a:t>CA-01.2 Dado un usuario con sesión activa, cuando ADMIN cambia su rol o lo bloquea, entonces el siguiente acceso con la sesión previa se rechaza y se aplican los nuevos permisos tras autenticar de nuevo.</a:t>
            </a:r>
          </a:p>
          <a:p xmlns:a="http://schemas.openxmlformats.org/drawingml/2006/main">
            <a:r>
              <a:t>CA-01.3 Dado un usuario sin rol ADMIN, cuando invoca la administración de usuarios, entonces la API deniega la operación aunque se acceda por URL directa.</a:t>
            </a:r>
          </a:p>
          <a:p xmlns:a="http://schemas.openxmlformats.org/drawingml/2006/main">
            <a:r>
              <a:t>CA-01.4 Dada una asignación o retiro de rol, cuando se guarda, entonces la bitácora conserva actor, fecha, usuario afectado y rol anterior y nuevo sin almacenar contraseñas ni OTP.</a:t>
            </a:r>
          </a:p>
          <a:p xmlns:a="http://schemas.openxmlformats.org/drawingml/2006/main">
            <a:r>
              <a:t>DoR: Matriz ADMIN, RECEPCION y DOCTOR acordada; reglas de alta, bloqueo y retiro de rol aclaradas; cuenta de ensayo disponible; casos de acceso permitido y denegado definidos.</a:t>
            </a:r>
          </a:p>
          <a:p xmlns:a="http://schemas.openxmlformats.org/drawingml/2006/main">
            <a:r>
              <a:t>DoD: Asignación y retiro de permisos contrastados en API e interfaz; sesiones anteriores rechazadas tras cambio relevante; bitácora verificable con actor, fecha y cambio; pruebas y revisión enlazadas.</a:t>
            </a:r>
          </a:p>
          <a:p xmlns:a="http://schemas.openxmlformats.org/drawingml/2006/main">
            <a:r>
              <a:t>Fuente general: Charter aportado y repositorio commit 235502c738ca3e0256710a901fc7e4b5a02326cb, consulta 22/10/2026.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CA-02.1 Dada Recepción autenticada y una ficha válida, cuando registra un documento nuevo, entonces el paciente se guarda y puede recuperarse en la clínica correspondiente.</a:t>
            </a:r>
          </a:p>
          <a:p xmlns:a="http://schemas.openxmlformats.org/drawingml/2006/main">
            <a:r>
              <a:t>CA-02.2 Dado un documento existente, cuando se intenta registrar de nuevo, entonces el sistema advierte la coincidencia y no crea otro paciente; la API devuelve conflicto 409.</a:t>
            </a:r>
          </a:p>
          <a:p xmlns:a="http://schemas.openxmlformats.org/drawingml/2006/main">
            <a:r>
              <a:t>CA-02.3 Dado un paciente de ensayo, cuando se busca por documento, nombre o teléfono con al menos dos caracteres, entonces aparece el registro correcto; una búsqueda sin coincidencias devuelve lista vacía.</a:t>
            </a:r>
          </a:p>
          <a:p xmlns:a="http://schemas.openxmlformats.org/drawingml/2006/main">
            <a:r>
              <a:t>CA-02.4 Dadas dos solicitudes concurrentes con el mismo documento en la misma clínica, cuando se procesan, entonces existe un solo registro persistido y se informa el conflicto restante.</a:t>
            </a:r>
          </a:p>
          <a:p xmlns:a="http://schemas.openxmlformats.org/drawingml/2006/main">
            <a:r>
              <a:t>CA-02.5 Dada una cuenta sin permiso de escritura, cuando intenta crear o editar pacientes, entonces se rechaza la operación; el aislamiento entre clínicas se verifica con datos ficticios.</a:t>
            </a:r>
          </a:p>
          <a:p xmlns:a="http://schemas.openxmlformats.org/drawingml/2006/main">
            <a:r>
              <a:t>DoR: Ficha mínima y formatos acordados; definición de duplicado por documento dentro de la clínica confirmada; datos ficticios para las tres búsquedas; dependencia de autenticación disponible.</a:t>
            </a:r>
          </a:p>
          <a:p xmlns:a="http://schemas.openxmlformats.org/drawingml/2006/main">
            <a:r>
              <a:t>DoD: Registro y persistencia comprobados en ensayo MySQL; búsqueda por documento, nombre y teléfono; duplicado secuencial y concurrente rechazado sin duplicar registros; acceso por rol y clínica contrastado.</a:t>
            </a:r>
          </a:p>
          <a:p xmlns:a="http://schemas.openxmlformats.org/drawingml/2006/main">
            <a:r>
              <a:t>Fuente general: Charter aportado y repositorio commit 235502c738ca3e0256710a901fc7e4b5a02326cb, consulta 22/10/2026.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CA-12.1 Dada una cuenta activa, cuando solicita recuperación, entonces se crea un desafío para su destino y canal; la respuesta pública no distingue cuenta existente de inexistente.</a:t>
            </a:r>
          </a:p>
          <a:p xmlns:a="http://schemas.openxmlformats.org/drawingml/2006/main">
            <a:r>
              <a:t>CA-12.2 Dado un OTP local solicitado, cuando transcurren diez minutos o se acumulan cinco errores, entonces no permite restablecer el acceso y se requiere una nueva solicitud.</a:t>
            </a:r>
          </a:p>
          <a:p xmlns:a="http://schemas.openxmlformats.org/drawingml/2006/main">
            <a:r>
              <a:t>CA-12.3 Dado un desafío vigente y un código correcto, cuando se confirma una contraseña válida, entonces se restablece el acceso, se consume el desafío y un segundo uso se rechaza.</a:t>
            </a:r>
          </a:p>
          <a:p xmlns:a="http://schemas.openxmlformats.org/drawingml/2006/main">
            <a:r>
              <a:t>CA-12.4 Dada una recuperación completada, cuando se usa un token previo, entonces se rechaza; el nuevo inicio de sesión usa la contraseña nueva.</a:t>
            </a:r>
          </a:p>
          <a:p xmlns:a="http://schemas.openxmlformats.org/drawingml/2006/main">
            <a:r>
              <a:t>CA-12.5 Dada una solicitud, un rechazo por código o una recuperación completada, cuando ocurre el evento, entonces se registra la auditoría sin contraseña, OTP ni token; el fallo no revela existencia de cuenta.</a:t>
            </a:r>
          </a:p>
          <a:p xmlns:a="http://schemas.openxmlformats.org/drawingml/2006/main">
            <a:r>
              <a:t>DoR: Canal académico local y datos de ensayo autorizados; vigencia de 10 minutos y cinco intentos acordados; contrato de respuesta genérica y eventos de auditoría definidos; dependencia de cuentas activas resuelta.</a:t>
            </a:r>
          </a:p>
          <a:p xmlns:a="http://schemas.openxmlformats.org/drawingml/2006/main">
            <a:r>
              <a:t>DoD: Solicitud previa, expiración, cinco errores, uso único y no enumeración contrastados; contraseña nueva permite acceso y sesiones anteriores dejan de ser válidas; eventos auditados; proveedor local documentado como académico.</a:t>
            </a:r>
          </a:p>
          <a:p xmlns:a="http://schemas.openxmlformats.org/drawingml/2006/main">
            <a:r>
              <a:t>Fuente general: Charter aportado y repositorio commit 235502c738ca3e0256710a901fc7e4b5a02326cb, consulta 22/10/2026.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las tarjetas específicas en Word y Excel. Charter 13.2 fundamenta la preparación. La DoR no es un artefacto formal prescrito por Scrum.</a:t>
            </a:r>
          </a:p>
          <a:p xmlns:a="http://schemas.openxmlformats.org/drawingml/2006/main">
            <a:r>
              <a:t>Fuente general: Charter aportado y repositorio commit 235502c738ca3e0256710a901fc7e4b5a02326cb, consulta 22/10/2026.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tarjetas específicas incluyen bitácora, duplicidad y OTP. La calidad del incremento se distingue de la conformidad del cliente. Fuente: Charter 13 y Guía Scrum 2020.</a:t>
            </a:r>
          </a:p>
          <a:p xmlns:a="http://schemas.openxmlformats.org/drawingml/2006/main">
            <a:r>
              <a:t>Fuente general: Charter aportado y repositorio commit 235502c738ca3e0256710a901fc7e4b5a02326cb, consulta 22/10/2026.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Excel contiene 12 tareas, dependencias y campos de asignación. Las horas y disponibilidad no están inventadas. Sin capacidad confirmada no se acredita viabilidad de 21 puntos.</a:t>
            </a:r>
          </a:p>
          <a:p xmlns:a="http://schemas.openxmlformats.org/drawingml/2006/main">
            <a:r>
              <a:t>Fuente general: Charter aportado y repositorio commit 235502c738ca3e0256710a901fc7e4b5a02326cb, consulta 22/10/2026.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la plantilla Excel con fecha, asistentes, hechos, adaptación y evidencia. Las tres preguntas tradicionales no son una obligación de Scrum. No reconstruir asistencia histórica.</a:t>
            </a:r>
          </a:p>
          <a:p xmlns:a="http://schemas.openxmlformats.org/drawingml/2006/main">
            <a:r>
              <a:t>Fuente general: Charter aportado y repositorio commit 235502c738ca3e0256710a901fc7e4b5a02326cb, consulta 22/10/2026.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Review: 5 contexto, 25 inspección, 10 feedback, 5 acuerdos. Retro: 5 hechos, 10 causas, 10 acción, 5 seguimiento. Guía Scrum: máximos 4h y 3h en sprints de un mes, usualmente menores para sprints cortos.</a:t>
            </a:r>
          </a:p>
          <a:p xmlns:a="http://schemas.openxmlformats.org/drawingml/2006/main">
            <a:r>
              <a:t>Fuente general: Charter aportado y repositorio commit 235502c738ca3e0256710a901fc7e4b5a02326cb, consulta 22/10/2026.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los ocho pasos del Word. Expiración, cinco errores y consumo único requieren desafíos separados. Capturar versión, entorno, fecha y resultado. Si solo se muestra código, identificarlo como inspección y no como demostración integrada.</a:t>
            </a:r>
          </a:p>
          <a:p xmlns:a="http://schemas.openxmlformats.org/drawingml/2006/main">
            <a:r>
              <a:t>Fuente general: Charter aportado y repositorio commit 235502c738ca3e0256710a901fc7e4b5a02326cb, consulta 22/10/2026.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Charter versión 1.1, secciones 1, 7.1, 9 y 19. Contraste entre docs/MATRIZ-DE-PERMISOS.md y PatientController search/get que permiten FINANZAS. Se documenta la diferencia sin alterar permisos.</a:t>
            </a:r>
          </a:p>
          <a:p xmlns:a="http://schemas.openxmlformats.org/drawingml/2006/main">
            <a:r>
              <a:t>Fuente general: Charter aportado y repositorio commit 235502c738ca3e0256710a901fc7e4b5a02326cb, consulta 22/10/2026.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Commit 235502c738ca3e0256710a901fc7e4b5a02326cb. Runs 39872400142 y 39872400201. No se actualizó remoto por push=false. No se probó backend público ni navegador. Se entrega un parche documental.</a:t>
            </a:r>
          </a:p>
          <a:p xmlns:a="http://schemas.openxmlformats.org/drawingml/2006/main">
            <a:r>
              <a:t>Fuente general: Charter aportado y repositorio commit 235502c738ca3e0256710a901fc7e4b5a02326cb, consulta 22/10/2026.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Charter aportado; https://github.com/DJuanParedes/clinica-cardenas/tree/235502c738ca3e0256710a901fc7e4b5a02326cb ; https://scrumguides.org/docs/scrumguide/v2020/2020-Scrum-Guide-Spanish-Latin-South-American.pdf . Las fuentes específicas se incluyen en Word y Excel.</a:t>
            </a:r>
          </a:p>
          <a:p xmlns:a="http://schemas.openxmlformats.org/drawingml/2006/main">
            <a:r>
              <a:t>Fuente general: Charter aportado y repositorio commit 235502c738ca3e0256710a901fc7e4b5a02326cb, consulta 22/10/2026.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0aa44a7385489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1dac0240b9496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abc6b4fa0048c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48bbd3cdb74e5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0d23a726cd478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34f0b0394d4e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203210-8781-4C8B-ABE6-B300504E61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346ED15-F52C-4991-BCF2-52EBC00A588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174E8A2-6346-4B63-9C45-5FA983AF91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AA5D86-18BE-421D-973E-ADD5F16AE2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1A80437-0C5C-477C-AA50-F4C709D30C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BB60A1C-297B-4433-AF52-C0CDFEB831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75A63A4-730C-4BA6-A56F-1CA9D06F8F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D143D1C-5D35-41BE-AC6B-FCCDF9469B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CA0ACB-BA42-481F-80B4-24A0FD03F6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8377DC7-09B2-4AD2-8085-6026C9DD1C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7445e449d04d3f" /><Relationship Type="http://schemas.openxmlformats.org/officeDocument/2006/relationships/slideLayout" Target="/ppt/slideLayouts/slideLayout1.xml" Id="R1bc494372dd64d59" /><Relationship Type="http://schemas.openxmlformats.org/officeDocument/2006/relationships/slideLayout" Target="/ppt/slideLayouts/slideLayout2.xml" Id="R4cd0c8873a014161" /><Relationship Type="http://schemas.openxmlformats.org/officeDocument/2006/relationships/slideLayout" Target="/ppt/slideLayouts/slideLayout3.xml" Id="Rf3061c2098dd4249" /><Relationship Type="http://schemas.openxmlformats.org/officeDocument/2006/relationships/slideLayout" Target="/ppt/slideLayouts/slideLayout4.xml" Id="R87f96e7b68134502" /><Relationship Type="http://schemas.openxmlformats.org/officeDocument/2006/relationships/slideLayout" Target="/ppt/slideLayouts/slideLayout5.xml" Id="R782c5e5a3de14ba8" /><Relationship Type="http://schemas.openxmlformats.org/officeDocument/2006/relationships/slideLayout" Target="/ppt/slideLayouts/slideLayout6.xml" Id="R2d1392020c9948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c494372dd64d59"/>
    <p:sldLayoutId xmlns:r="http://schemas.openxmlformats.org/officeDocument/2006/relationships" id="2147483650" r:id="R4cd0c8873a014161"/>
    <p:sldLayoutId xmlns:r="http://schemas.openxmlformats.org/officeDocument/2006/relationships" id="2147483651" r:id="Rf3061c2098dd4249"/>
    <p:sldLayoutId xmlns:r="http://schemas.openxmlformats.org/officeDocument/2006/relationships" id="2147483652" r:id="R87f96e7b68134502"/>
    <p:sldLayoutId xmlns:r="http://schemas.openxmlformats.org/officeDocument/2006/relationships" id="2147483653" r:id="R782c5e5a3de14ba8"/>
    <p:sldLayoutId xmlns:r="http://schemas.openxmlformats.org/officeDocument/2006/relationships" id="2147483654" r:id="R2d1392020c9948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5d10ca70654560" /><Relationship Type="http://schemas.openxmlformats.org/officeDocument/2006/relationships/notesSlide" Target="/ppt/notesSlides/notesSlide1.xml" Id="Rf7c1915627e849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2bd82534604f79" /><Relationship Type="http://schemas.openxmlformats.org/officeDocument/2006/relationships/notesSlide" Target="/ppt/notesSlides/notesSlide2.xml" Id="Ra420e27202ec49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66edd15a1b4904" /><Relationship Type="http://schemas.openxmlformats.org/officeDocument/2006/relationships/notesSlide" Target="/ppt/notesSlides/notesSlide3.xml" Id="Rb5502fb26b8848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0f4809f6d84719" /><Relationship Type="http://schemas.openxmlformats.org/officeDocument/2006/relationships/notesSlide" Target="/ppt/notesSlides/notesSlide4.xml" Id="Rf52906bade8944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7882d174294f75" /><Relationship Type="http://schemas.openxmlformats.org/officeDocument/2006/relationships/notesSlide" Target="/ppt/notesSlides/notesSlide5.xml" Id="R7812e3fc30bf4c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e431916604463c" /><Relationship Type="http://schemas.openxmlformats.org/officeDocument/2006/relationships/notesSlide" Target="/ppt/notesSlides/notesSlide6.xml" Id="R3d600bba38274c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781c4d098b4a37" /><Relationship Type="http://schemas.openxmlformats.org/officeDocument/2006/relationships/notesSlide" Target="/ppt/notesSlides/notesSlide7.xml" Id="R02197670ebf84d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dc5c88ca4a4c0c" /><Relationship Type="http://schemas.openxmlformats.org/officeDocument/2006/relationships/notesSlide" Target="/ppt/notesSlides/notesSlide8.xml" Id="R8116b0a4649a47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9e43c237f9406a" /><Relationship Type="http://schemas.openxmlformats.org/officeDocument/2006/relationships/notesSlide" Target="/ppt/notesSlides/notesSlide9.xml" Id="Rbb66020d7dae44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95b33777094164" /><Relationship Type="http://schemas.openxmlformats.org/officeDocument/2006/relationships/notesSlide" Target="/ppt/notesSlides/notesSlide10.xml" Id="R99c842f900224fe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455cfac5c04a54" /><Relationship Type="http://schemas.openxmlformats.org/officeDocument/2006/relationships/notesSlide" Target="/ppt/notesSlides/notesSlide11.xml" Id="R395d7202fe324a9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1e8a15a9cd4c7f" /><Relationship Type="http://schemas.openxmlformats.org/officeDocument/2006/relationships/notesSlide" Target="/ppt/notesSlides/notesSlide12.xml" Id="R554743a68dc048d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afd4596d494ba9" /><Relationship Type="http://schemas.openxmlformats.org/officeDocument/2006/relationships/notesSlide" Target="/ppt/notesSlides/notesSlide13.xml" Id="R07dda0e5582c449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49266d61b64078" /><Relationship Type="http://schemas.openxmlformats.org/officeDocument/2006/relationships/notesSlide" Target="/ppt/notesSlides/notesSlide14.xml" Id="Rd52b1b35d3eb4f2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186c7b850b4b36" /><Relationship Type="http://schemas.openxmlformats.org/officeDocument/2006/relationships/notesSlide" Target="/ppt/notesSlides/notesSlide15.xml" Id="R001d7c626f0c40f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4f2582785e45be" /><Relationship Type="http://schemas.openxmlformats.org/officeDocument/2006/relationships/notesSlide" Target="/ppt/notesSlides/notesSlide16.xml" Id="R6bfef10294354f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33F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0754C-E923-4AE0-A806-A8A8C6CF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Sprint 1 de Clínica Dental Cárdenas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AA5792-9F41-4F39-9E48-F3660472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106203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Universidad Peruana Unión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Ingeniería de Sistemas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Revisión del Charter y planificación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22 de octubre de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E68BBF-F116-4C07-87F3-AF97CACC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350737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6413DC-ECB8-44BB-861D-31C9175D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F5B"/>
                </a:solidFill>
                <a:latin typeface="Arial"/>
                <a:ea typeface="Arial"/>
                <a:cs typeface="Arial"/>
              </a:rPr>
              <a:t>Resultado del contraste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019AE-3CAE-499A-8507-16CF0427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6203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HU-01, HU-02 y HU-12 corresponden al Sprint 1 del Charter.</a:t>
            </a:r>
          </a:p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El Charter no asigna Story Points.</a:t>
            </a:r>
          </a:p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21 SP es una propuesta pendiente de consenso.</a:t>
            </a:r>
          </a:p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El cierre integrado y la conformidad del cliente siguen sin acreditarse.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45E10-9894-459C-9725-D3960122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403108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6D0FB8-1652-41C1-B8CE-3EA6F953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F5B"/>
                </a:solidFill>
                <a:latin typeface="Arial"/>
                <a:ea typeface="Arial"/>
                <a:cs typeface="Arial"/>
              </a:rPr>
              <a:t>Objetivo del Sprint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71029B-63F5-43D8-8A8C-B37316BC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6203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Habilitar una base segura para gestionar usuarios y permisos, registrar y buscar pacientes y recuperar el acceso mediante OTP controlado, con trazabilidad verificable.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Periodo original: 30/09 al 07/10/2026.</a:t>
            </a:r>
          </a:p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Revisión actual: 22/10/2026.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9145B2-CB13-4676-8402-0BCD52F9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542248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520C5C-07E8-4554-B765-C20183E0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F5B"/>
                </a:solidFill>
                <a:latin typeface="Arial"/>
                <a:ea typeface="Arial"/>
                <a:cs typeface="Arial"/>
              </a:rPr>
              <a:t>Estimación Fibonacci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800A9C-B996-407D-BA16-A0F878AB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6203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HU-01 Usuarios y roles: 8 SP propuestos</a:t>
            </a:r>
          </a:p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HU-02 Pacientes: 5 SP propuestos</a:t>
            </a:r>
          </a:p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HU-12 Recuperación OTP: 8 SP propuestos</a:t>
            </a:r>
          </a:p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Total inicial 18 SP. Total propuesto 21 SP.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859D1-59B1-4889-B51A-20FFF08A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674084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4F995D-65F8-4EE6-A383-8CCACE9C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F5B"/>
                </a:solidFill>
                <a:latin typeface="Arial"/>
                <a:ea typeface="Arial"/>
                <a:cs typeface="Arial"/>
              </a:rPr>
              <a:t>HU-01 Gestionar usuarios y roles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9263C7-597A-4BD3-A4BC-EBD3C737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6203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Como Administrador, quiero gestionar usuarios y roles, para controlar quién accede a cada módulo.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Permisos por rol y rechazo de acceso directo.</a:t>
            </a:r>
          </a:p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Cambios de rol, revocación y bitácora.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50ADB-6773-46B3-A304-E448AFBC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147551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9BC98-718F-415B-83F8-03032FF0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F5B"/>
                </a:solidFill>
                <a:latin typeface="Arial"/>
                <a:ea typeface="Arial"/>
                <a:cs typeface="Arial"/>
              </a:rPr>
              <a:t>HU-02 Registrar y buscar pacientes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BB855-B2C5-4ED3-9E32-03CEB6A0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6203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Como Recepcionista, quiero registrar y buscar un paciente, para evitar duplicados y disponer de su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Registro y búsqueda por documento, nombre o teléfono.</a:t>
            </a:r>
          </a:p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Duplicados rechazados, incluso en concurrencia.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DB216-DA2B-408B-A53A-2DD6C332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171291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BB7C1C-F716-4583-BD60-D9E37340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F5B"/>
                </a:solidFill>
                <a:latin typeface="Arial"/>
                <a:ea typeface="Arial"/>
                <a:cs typeface="Arial"/>
              </a:rPr>
              <a:t>HU-12 Recuperar acceso mediante OTP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05521C-271A-4CA8-A939-3E1CE92A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6203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Como Usuario autorizado, quiero recuperar mi acceso mediante OTP, para restablecer credenciales de forma controlada.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Solicitud previa, 10 minutos y 5 intentos.</a:t>
            </a:r>
          </a:p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Uso único, respuesta genérica y auditoría.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B3BA7-ABC2-438D-9329-11DCC393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305335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39F8E-DF5E-4106-8982-DCC96F51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F5B"/>
                </a:solidFill>
                <a:latin typeface="Arial"/>
                <a:ea typeface="Arial"/>
                <a:cs typeface="Arial"/>
              </a:rPr>
              <a:t>Definition of Ready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7B6D30-1EA5-47C0-9E08-565F85AB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6203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Valor, criterios y reglas acordados.</a:t>
            </a:r>
          </a:p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Dependencias y datos de ensayo disponibles.</a:t>
            </a:r>
          </a:p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Estimación y capacidad revisadas.</a:t>
            </a:r>
          </a:p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DoR como acuerdo complementario del equipo.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95B14-A9C1-4EA2-848E-CFBB9E69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267257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1A125-AF5E-45C3-800A-F3087790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F5B"/>
                </a:solidFill>
                <a:latin typeface="Arial"/>
                <a:ea typeface="Arial"/>
                <a:cs typeface="Arial"/>
              </a:rPr>
              <a:t>Definition of Done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EFC31B-06FF-47A4-A6F7-C9FB07F9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6203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Código integrado y revisado.</a:t>
            </a:r>
          </a:p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Criterios y pruebas pertinentes aprobados.</a:t>
            </a:r>
          </a:p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Documentación actualizada y sin críticos conocidos.</a:t>
            </a:r>
          </a:p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Ensayo integrado con evidencia pendiente.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2B1D6-AC4F-41E9-932A-F02173DC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857101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230FBF-3C20-4E35-952D-F5EDC3AF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F5B"/>
                </a:solidFill>
                <a:latin typeface="Arial"/>
                <a:ea typeface="Arial"/>
                <a:cs typeface="Arial"/>
              </a:rPr>
              <a:t>Sprint Backlog y capacidad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F02698-A6B4-4307-BB3B-5F481444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6203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HU-01: matriz de roles, acceso y auditoría.</a:t>
            </a:r>
          </a:p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HU-02: ficha, búsquedas y duplicidad.</a:t>
            </a:r>
          </a:p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HU-12: desafío OTP, sesiones y auditoría.</a:t>
            </a:r>
          </a:p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Cierre: ensayo integrado, Review y mejora.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A44F00-2945-4E57-8467-46D73055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335182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33DF0-B70E-49A2-AC29-7EDDA4A0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F5B"/>
                </a:solidFill>
                <a:latin typeface="Arial"/>
                <a:ea typeface="Arial"/>
                <a:cs typeface="Arial"/>
              </a:rPr>
              <a:t>Daily Scrum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53DF6-5ED4-4925-A277-0A00ABF3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6203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15 minutos para Developers.</a:t>
            </a:r>
          </a:p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Inspección del progreso hacia el objetivo.</a:t>
            </a:r>
          </a:p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Adaptación del trabajo y gestión de impedimentos.</a:t>
            </a:r>
          </a:p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Registros reales todavía no aportados.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A67FC-514D-42D6-8DF5-9F0DE0E8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306124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955E30-6BAF-406C-B938-8C8CD181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F5B"/>
                </a:solidFill>
                <a:latin typeface="Arial"/>
                <a:ea typeface="Arial"/>
                <a:cs typeface="Arial"/>
              </a:rPr>
              <a:t>Sprint Review y Retrospective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7797F-2088-4C5E-A380-25CD6168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6203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Review propuesta: 45 minutos para inspección y feedback.</a:t>
            </a:r>
          </a:p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Retrospective propuesta: 30 minutos para mejora.</a:t>
            </a:r>
          </a:p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Registrar decisiones, responsables y seguimiento.</a:t>
            </a:r>
          </a:p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No se acreditan eventos ya realizados.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69AD69-C3A4-4E0E-8DED-DC4C7207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965575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5215C7-2B92-4F32-AA1C-3FEF08DD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F5B"/>
                </a:solidFill>
                <a:latin typeface="Arial"/>
                <a:ea typeface="Arial"/>
                <a:cs typeface="Arial"/>
              </a:rPr>
              <a:t>Guion de demostración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DEFFE-53C5-4D4B-B079-FBC788F1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6203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ADMIN crea Recepción y consulta bitácora.</a:t>
            </a:r>
          </a:p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Recepción registra, busca y prueba duplicados.</a:t>
            </a:r>
          </a:p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ADMIN cambia acceso y se rechaza la sesión previa.</a:t>
            </a:r>
          </a:p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OTP se prueba con desafíos separados y datos ficticios.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8AF214-F983-499F-AFD8-73D3CBA6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616092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D0C30E-03E1-4D0C-9467-417A1898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F5B"/>
                </a:solidFill>
                <a:latin typeface="Arial"/>
                <a:ea typeface="Arial"/>
                <a:cs typeface="Arial"/>
              </a:rPr>
              <a:t>Hallazgos y decisiones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AC044-485C-47E3-94E0-87490C28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6203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PO y aprobación del cliente pendientes.</a:t>
            </a:r>
          </a:p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Aclarar acceso de Finanzas a datos de pacientes.</a:t>
            </a:r>
          </a:p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Multiclínica y otros módulos requieren trazabilidad de alcance.</a:t>
            </a:r>
          </a:p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No se aportaron mediciones de mejora operativa.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CBFBE-27CD-4F00-9002-B29E70D1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4915507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AF247-2CB9-410C-B708-DE1D4462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F5B"/>
                </a:solidFill>
                <a:latin typeface="Arial"/>
                <a:ea typeface="Arial"/>
                <a:cs typeface="Arial"/>
              </a:rPr>
              <a:t>Repositorio y GitHub Pages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D90A5-D22B-4DDD-8F07-0A9CB2D8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6203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CI de validación y despliegue: success.</a:t>
            </a:r>
          </a:p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Raíz pública y configuración: HTTP 200.</a:t>
            </a:r>
          </a:p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Frontend publicado con apiBaseUrl vacío.</a:t>
            </a:r>
          </a:p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Conexión actual con permiso de lectura.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EE6EA-A003-4799-ABA6-61C597CB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845817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8851E8-4EBA-4868-BD97-BE46E15F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33F5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F5B"/>
                </a:solidFill>
                <a:latin typeface="Arial"/>
                <a:ea typeface="Arial"/>
                <a:cs typeface="Arial"/>
              </a:rPr>
              <a:t>Cierre pendiente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F6AF40-E417-4A42-AB99-DC412B5A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6203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Validar representante, puntos y capacidad.</a:t>
            </a:r>
          </a:p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Acordar permisos y ejecutar casos integrados.</a:t>
            </a:r>
          </a:p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Registrar Review, mejora y conformidad reales.</a:t>
            </a:r>
          </a:p>
          <a:p xmlns:a="http://schemas.openxmlformats.org/drawingml/2006/main">
            <a:pPr>
              <a:defRPr sz="2175" b="0">
                <a:solidFill>
                  <a:srgbClr val="172B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0"/>
                </a:solidFill>
                <a:latin typeface="Arial"/>
                <a:ea typeface="Arial"/>
                <a:cs typeface="Arial"/>
              </a:rPr>
              <a:t>Aplicar la documentación con acceso del propietario.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6BF99E-A232-43E7-880E-98CCA434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80327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2026-10-23T00:05:45.0580000Z</dcterms:created>
  <dcterms:modified xsi:type="dcterms:W3CDTF">2026-10-23T00:05:45.0580000Z</dcterms:modified>
</coreProperties>
</file>